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20000" y="1007999"/>
            <a:ext cx="1075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ptos Display"/>
              </a:rPr>
              <a:t>Détection de faux billets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2448000"/>
            <a:ext cx="107532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>
                <a:solidFill>
                  <a:srgbClr val="D6EAF8"/>
                </a:solidFill>
                <a:latin typeface="Aptos Display"/>
              </a:rPr>
              <a:t>Classification par caractéristiques physiques — ONCFM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3671999"/>
            <a:ext cx="10753200" cy="2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0000" y="6210000"/>
            <a:ext cx="107532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AF8"/>
                </a:solidFill>
                <a:latin typeface="Aptos Display"/>
              </a:rPr>
              <a:t>Josy Elices-Diez  |  Juin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Sommaire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115999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00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00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4000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Les données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1 500 billets, 6 mesures physiques, ratio 2:1 vrais / faux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533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7300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Encodage, imputation, standardisation, split stratifié 67/33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6600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0599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Modélisation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4 algorithmes : K-means, Rég. logistique, KNN, Random Forest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1504800"/>
            <a:ext cx="2553300" cy="499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19899" y="1504800"/>
            <a:ext cx="125999" cy="4993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3899" y="1684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Application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188800"/>
            <a:ext cx="2193300" cy="42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Script Python — 2 modes d'entrée, sortie VRAI / FAUX par billet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Exploration du jeu d'entraînement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Les faux billets se distinguent nettement sur margin_low et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15431"/>
            <a:ext cx="7099919" cy="38759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1 000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billets vrais  (67 %)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billets  (33 %)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2:1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ratio vrais / faux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dirty="0" err="1">
                <a:solidFill>
                  <a:srgbClr val="1C1C1C"/>
                </a:solidFill>
                <a:latin typeface="Aptos Display"/>
              </a:rPr>
              <a:t>Pairplot</a:t>
            </a:r>
            <a:r>
              <a:rPr sz="3600" b="1" dirty="0">
                <a:solidFill>
                  <a:srgbClr val="1C1C1C"/>
                </a:solidFill>
                <a:latin typeface="Aptos Display"/>
              </a:rPr>
              <a:t> : </a:t>
            </a:r>
            <a:r>
              <a:rPr sz="3600" b="1" dirty="0" err="1">
                <a:solidFill>
                  <a:srgbClr val="1C1C1C"/>
                </a:solidFill>
                <a:latin typeface="Aptos Display"/>
              </a:rPr>
              <a:t>margin_low</a:t>
            </a:r>
            <a:r>
              <a:rPr sz="3600" b="1" dirty="0">
                <a:solidFill>
                  <a:srgbClr val="1C1C1C"/>
                </a:solidFill>
                <a:latin typeface="Aptos Display"/>
              </a:rPr>
              <a:t> et length </a:t>
            </a:r>
            <a:r>
              <a:rPr sz="3600" b="1" dirty="0" err="1">
                <a:solidFill>
                  <a:srgbClr val="1C1C1C"/>
                </a:solidFill>
                <a:latin typeface="Aptos Display"/>
              </a:rPr>
              <a:t>séparent</a:t>
            </a:r>
            <a:r>
              <a:rPr sz="3600" b="1" dirty="0">
                <a:solidFill>
                  <a:srgbClr val="1C1C1C"/>
                </a:solidFill>
                <a:latin typeface="Aptos Display"/>
              </a:rPr>
              <a:t> les </a:t>
            </a:r>
            <a:r>
              <a:rPr lang="fr-FR" sz="3600" b="1" dirty="0">
                <a:solidFill>
                  <a:srgbClr val="1C1C1C"/>
                </a:solidFill>
                <a:latin typeface="Aptos Display"/>
              </a:rPr>
              <a:t>2</a:t>
            </a:r>
            <a:r>
              <a:rPr sz="3600" b="1" dirty="0">
                <a:solidFill>
                  <a:srgbClr val="1C1C1C"/>
                </a:solidFill>
                <a:latin typeface="Aptos Display"/>
              </a:rPr>
              <a:t>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952776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023" y="1153745"/>
            <a:ext cx="6639072" cy="55962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features — toutes les paires visualisées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Bleu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vrais billets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billets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margin_low : 37 valeurs manquantes comblées par régression linéaire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3239" y="2008800"/>
            <a:ext cx="5807031" cy="47392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3054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33223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valeurs manquantes dans margin_low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43794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43794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8" y="4676004"/>
            <a:ext cx="329328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dirty="0" err="1">
                <a:solidFill>
                  <a:srgbClr val="2E86C1"/>
                </a:solidFill>
                <a:latin typeface="Aptos Display"/>
              </a:rPr>
              <a:t>Rég</a:t>
            </a:r>
            <a:r>
              <a:rPr sz="4000" b="1" dirty="0">
                <a:solidFill>
                  <a:srgbClr val="2E86C1"/>
                </a:solidFill>
                <a:latin typeface="Aptos Display"/>
              </a:rPr>
              <a:t>.</a:t>
            </a:r>
            <a:r>
              <a:rPr lang="fr-FR" sz="4000" b="1" dirty="0">
                <a:solidFill>
                  <a:srgbClr val="2E86C1"/>
                </a:solidFill>
                <a:latin typeface="Aptos Display"/>
              </a:rPr>
              <a:t> </a:t>
            </a:r>
            <a:r>
              <a:rPr sz="4000" b="1" dirty="0">
                <a:solidFill>
                  <a:srgbClr val="2E86C1"/>
                </a:solidFill>
                <a:latin typeface="Aptos Display"/>
              </a:rPr>
              <a:t>lin.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56929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imputation sur les 5 autres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Préparer les données avant la modélisation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4 étapes de preprocessing avant la modélisation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Encodage cible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is_genuine : True/False
→ 1 (vrai) / 0 (faux)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Imputation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margin_low : 37 lignes manquantes comblées par régression linéaire sur les 5 autres 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Standardisation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StandardScaler
(moyenne=0, écart-type=1)
Obligatoire pour KNN,
K-means, rég. log.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Split stratifié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67 % train — 1 005 billets
33 % test  — 495 billets
Stratifié : préserve
le ratio 2:1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Modélisation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Comparaison de 4 algorithmes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K-means : prédiction par distance aux centroïdes (non supervisé)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m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967" y="2008800"/>
            <a:ext cx="5505984" cy="4489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20" y="276624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20" y="276624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20" y="295221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97.6 %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20" y="358984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20" y="434663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20" y="4346639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20" y="453261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20" y="517024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Régression logistique : margin_low et length sont les features décisives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ef_lo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56012"/>
            <a:ext cx="7099919" cy="39947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  meilleur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99.4 %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  meilleure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  meilleur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KNN : k optimal trouvé par GridSearchCV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115999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knn_k_optim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52632"/>
            <a:ext cx="7099919" cy="349753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15048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1504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17142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4325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2532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2532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4626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99.0 %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1809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001600"/>
            <a:ext cx="3509280" cy="1496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001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211096"/>
            <a:ext cx="3221280" cy="688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0.9950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29368"/>
            <a:ext cx="3221280" cy="493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Random Forest : margin_low domine les feature importances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f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3068391"/>
            <a:ext cx="7099919" cy="23700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98.8 %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0.9993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Rég. logistique domine sur les deux critères métier prioritaires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mparaison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701123"/>
            <a:ext cx="7099919" cy="31045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1947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Rég. log.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28324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modèle retenu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3589199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3589199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3775175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44128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Recall(Faux)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3919" y="5169600"/>
            <a:ext cx="3509280" cy="13284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3919" y="5169600"/>
            <a:ext cx="3509280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07919" y="5355576"/>
            <a:ext cx="3221280" cy="611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07919" y="5993208"/>
            <a:ext cx="3221280" cy="4383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Rég. logistique retenue : meilleure sur les deux critères prioritaires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Critère 1 —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= 0.988 — le plus élevé des 4 algorithmes
Priorité absolue : un faux billet classé vrai est un risque opérationnel majeur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Critère 2 — AUC-ROC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AUC-ROC = 0.9994 — meilleur des modèles supervisés
vs Random Forest : 0.9993 / KNN : 0.9950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Interprétabilité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Coefficients directement lisibles — margin_low et length sont les features discriminantes
Accessible pour le métier et auditables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K-means écarté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Algorithme non supervisé : l'alignement cluster/classe est une inférence post-hoc, moins robuste sur données inconnues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80000" y="2340000"/>
            <a:ext cx="100332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Aptos Display"/>
              </a:rPr>
              <a:t>Validation &amp; Coût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000" y="3780000"/>
            <a:ext cx="10033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D6EAF8"/>
                </a:solidFill>
                <a:latin typeface="Aptos Display"/>
              </a:rPr>
              <a:t>Robustesse et impact métier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Aptos Display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Validation croisée 5 folds : résultats stables sur les 3 modèles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200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40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Protocole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40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5 folds — Pipeline(StandardScaler + modèle)
Le scaler est ajusté uniquement sur les données d'entraînement de chaque fold (pas de data leakage)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533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533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87300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Rég. logistique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7300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Résultats cohérents avec le jeu de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6600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86600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05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KNN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05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Meilleure AUC-ROC confirmée en validation croisée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9899" y="2008800"/>
            <a:ext cx="25533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19899" y="2008800"/>
            <a:ext cx="125999" cy="4489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3899" y="2188800"/>
            <a:ext cx="21933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5276"/>
                </a:solidFill>
                <a:latin typeface="Aptos Display"/>
              </a:rPr>
              <a:t>Random 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899" y="2692800"/>
            <a:ext cx="2193300" cy="369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1C1C"/>
                </a:solidFill>
                <a:latin typeface="Aptos Display"/>
              </a:rPr>
              <a:t>Recall(Faux) ≈ 0.984
Robuste — faible variance entre les 5 folds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Analyse coût : un faux billet non détecté coûte 10× plus cher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out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44474"/>
            <a:ext cx="7099919" cy="40178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963919" y="20088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963919" y="2008800"/>
            <a:ext cx="3509280" cy="79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07919" y="23054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0392B"/>
                </a:solidFill>
                <a:latin typeface="Aptos Display"/>
              </a:rPr>
              <a:t>500 €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919" y="33223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négatif
(faux billet non détecté)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3919" y="4379400"/>
            <a:ext cx="3509280" cy="21186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63919" y="4379400"/>
            <a:ext cx="3509280" cy="79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07919" y="4676004"/>
            <a:ext cx="3221280" cy="97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E86C1"/>
                </a:solidFill>
                <a:latin typeface="Aptos Display"/>
              </a:rPr>
              <a:t>50 €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919" y="5692932"/>
            <a:ext cx="3221280" cy="699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faux positif
(vrai billet refusé)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2 modes d'utilisation — une ligne de sortie par billet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20000" y="2008800"/>
            <a:ext cx="53046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6000" y="2134800"/>
            <a:ext cx="5052600" cy="43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5276"/>
                </a:solidFill>
                <a:latin typeface="Aptos Display"/>
              </a:rPr>
              <a:t>Mode CSV  (multi-billets)</a:t>
            </a:r>
          </a:p>
          <a:p>
            <a:pPr algn="l"/>
            <a:endParaRPr sz="1500" b="1">
              <a:solidFill>
                <a:srgbClr val="1A5276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python script.py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--csv billets_production.csv</a:t>
            </a:r>
          </a:p>
          <a:p>
            <a:pPr algn="l"/>
            <a:endParaRPr sz="1500" b="0">
              <a:solidFill>
                <a:srgbClr val="1C1C1C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C0392B"/>
                </a:solidFill>
                <a:latin typeface="Aptos Display"/>
              </a:rPr>
              <a:t>FAUX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E8A44"/>
                </a:solidFill>
                <a:latin typeface="Aptos Display"/>
              </a:rPr>
              <a:t>VRAI</a:t>
            </a:r>
          </a:p>
          <a:p>
            <a:pPr algn="l"/>
            <a:endParaRPr sz="1500" b="0">
              <a:solidFill>
                <a:srgbClr val="1E8A44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Une ligne par billet dans l'ordre du CSV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8599" y="2008800"/>
            <a:ext cx="5304600" cy="448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94600" y="2134800"/>
            <a:ext cx="5052600" cy="43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5276"/>
                </a:solidFill>
                <a:latin typeface="Aptos Display"/>
              </a:rPr>
              <a:t>Mode valeurs  (1 billet)</a:t>
            </a:r>
          </a:p>
          <a:p>
            <a:pPr algn="l"/>
            <a:endParaRPr sz="1500" b="1">
              <a:solidFill>
                <a:srgbClr val="1A5276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python script.py --values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172.28 103.95 103.91 \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1C1C1C"/>
                </a:solidFill>
                <a:latin typeface="Aptos Display"/>
              </a:rPr>
              <a:t>  4.78 3.31 111.40</a:t>
            </a:r>
          </a:p>
          <a:p>
            <a:pPr algn="l"/>
            <a:endParaRPr sz="1500" b="0">
              <a:solidFill>
                <a:srgbClr val="1C1C1C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C0392B"/>
                </a:solidFill>
                <a:latin typeface="Aptos Display"/>
              </a:rPr>
              <a:t>FAUX</a:t>
            </a:r>
          </a:p>
          <a:p>
            <a:pPr algn="l"/>
            <a:endParaRPr sz="1500" b="0">
              <a:solidFill>
                <a:srgbClr val="C0392B"/>
              </a:solidFill>
              <a:latin typeface="Aptos Display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Ordre des valeurs :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diagonal  height_left  height_right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888888"/>
                </a:solidFill>
                <a:latin typeface="Aptos Display"/>
              </a:rPr>
              <a:t>margin_low  margin_up 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0000" y="216000"/>
            <a:ext cx="10753200" cy="11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C1C1C"/>
                </a:solidFill>
                <a:latin typeface="Aptos Display"/>
              </a:rPr>
              <a:t>Résultats — modèle Rég. logistique validé sur 495 billets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620000"/>
            <a:ext cx="10753200" cy="288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320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145677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145677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9677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99.4 %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9677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Accuracy globale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87977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87977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31977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98.8 %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1977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Recall — faux billets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0277" y="2008800"/>
            <a:ext cx="2526299" cy="373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30277" y="2008800"/>
            <a:ext cx="2526299" cy="79200"/>
          </a:xfrm>
          <a:prstGeom prst="rect">
            <a:avLst/>
          </a:prstGeom>
          <a:solidFill>
            <a:srgbClr val="1E8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4276" y="2531448"/>
            <a:ext cx="2238300" cy="1717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8A44"/>
                </a:solidFill>
                <a:latin typeface="Aptos Display"/>
              </a:rPr>
              <a:t>0.9994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4276" y="4323384"/>
            <a:ext cx="2238300" cy="1231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Aptos Display"/>
              </a:rPr>
              <a:t>AUC-ROC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5886000"/>
            <a:ext cx="107532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88888"/>
                </a:solidFill>
                <a:latin typeface="Aptos Display"/>
              </a:rPr>
              <a:t>Entraîné sur 1 005 billets, validé sur 495 — données ONCFM, juin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01200" y="6462000"/>
            <a:ext cx="6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888888"/>
                </a:solidFill>
                <a:latin typeface="Aptos Display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</TotalTime>
  <Words>746</Words>
  <Application>Microsoft Office PowerPoint</Application>
  <PresentationFormat>Personnalisé</PresentationFormat>
  <Paragraphs>155</Paragraphs>
  <Slides>20</Slides>
  <Notes>0</Notes>
  <HiddenSlides>1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4" baseType="lpstr"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Josy Elices-Diez</cp:lastModifiedBy>
  <cp:revision>2</cp:revision>
  <dcterms:created xsi:type="dcterms:W3CDTF">2013-01-27T09:14:16Z</dcterms:created>
  <dcterms:modified xsi:type="dcterms:W3CDTF">2026-07-20T19:25:15Z</dcterms:modified>
  <cp:category/>
</cp:coreProperties>
</file>