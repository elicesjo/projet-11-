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1007999"/>
            <a:ext cx="107532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>
                <a:solidFill>
                  <a:srgbClr val="FFFFFF"/>
                </a:solidFill>
                <a:latin typeface="Aptos Display"/>
              </a:rPr>
              <a:t>Détection de faux billets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2448000"/>
            <a:ext cx="107532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D6EAF8"/>
                </a:solidFill>
                <a:latin typeface="Aptos Display"/>
              </a:rPr>
              <a:t>Classification par caractéristiques physiques — ONCFM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3671999"/>
            <a:ext cx="10753200" cy="216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6210000"/>
            <a:ext cx="1075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AF8"/>
                </a:solidFill>
                <a:latin typeface="Aptos Display"/>
              </a:rPr>
              <a:t>Josy Elices-Diez  |  Juin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1200" y="6462000"/>
            <a:ext cx="64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16000"/>
            <a:ext cx="107532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C1C1C"/>
                </a:solidFill>
                <a:latin typeface="Aptos Display"/>
              </a:rPr>
              <a:t>Sommaire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115999"/>
            <a:ext cx="10753200" cy="288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20000" y="1504800"/>
            <a:ext cx="2553300" cy="4993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20000" y="1504800"/>
            <a:ext cx="2553300" cy="720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4000" y="1612799"/>
            <a:ext cx="22653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Aptos Display"/>
              </a:rPr>
              <a:t>Les données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4000" y="2368800"/>
            <a:ext cx="2265300" cy="40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1C1C"/>
                </a:solidFill>
                <a:latin typeface="Aptos Display"/>
              </a:rPr>
              <a:t>1 500 billets, 6 mesures physiques, ratio 2:1 vrais / faux</a:t>
            </a:r>
          </a:p>
        </p:txBody>
      </p:sp>
      <p:sp>
        <p:nvSpPr>
          <p:cNvPr id="8" name="Rectangle 7"/>
          <p:cNvSpPr/>
          <p:nvPr/>
        </p:nvSpPr>
        <p:spPr>
          <a:xfrm>
            <a:off x="3453300" y="1504800"/>
            <a:ext cx="2553300" cy="4993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53300" y="1504800"/>
            <a:ext cx="2553300" cy="720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7300" y="1612799"/>
            <a:ext cx="22653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Aptos Display"/>
              </a:rPr>
              <a:t>Preprocessing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7300" y="2368800"/>
            <a:ext cx="2265300" cy="40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1C1C"/>
                </a:solidFill>
                <a:latin typeface="Aptos Display"/>
              </a:rPr>
              <a:t>Encodage, imputation, standardisation, split stratifié 75/25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6600" y="1504800"/>
            <a:ext cx="2553300" cy="4993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86600" y="1504800"/>
            <a:ext cx="2553300" cy="720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0599" y="1612799"/>
            <a:ext cx="22653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Aptos Display"/>
              </a:rPr>
              <a:t>Modélisation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0599" y="2368800"/>
            <a:ext cx="2265300" cy="40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1C1C"/>
                </a:solidFill>
                <a:latin typeface="Aptos Display"/>
              </a:rPr>
              <a:t>4 algorithmes : K-means, Rég. logistique, KNN, Random Forest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19899" y="1504800"/>
            <a:ext cx="2553300" cy="4993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19899" y="1504800"/>
            <a:ext cx="2553300" cy="720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63899" y="1612799"/>
            <a:ext cx="22653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Aptos Display"/>
              </a:rPr>
              <a:t>Application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63899" y="2368800"/>
            <a:ext cx="2265300" cy="40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1C1C"/>
                </a:solidFill>
                <a:latin typeface="Aptos Display"/>
              </a:rPr>
              <a:t>Script Python — 2 modes d'entrée, sortie VRAI / FAUX par billet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01200" y="6462000"/>
            <a:ext cx="64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888888"/>
                </a:solidFill>
                <a:latin typeface="Aptos Display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16000"/>
            <a:ext cx="10753200" cy="11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C1C1C"/>
                </a:solidFill>
                <a:latin typeface="Aptos Display"/>
              </a:rPr>
              <a:t>Contexte : identifier automatiquement les faux billets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620000"/>
            <a:ext cx="10753200" cy="288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20000" y="2008800"/>
            <a:ext cx="2526299" cy="3733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4000" y="2382120"/>
            <a:ext cx="2238300" cy="1866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E86C1"/>
                </a:solidFill>
                <a:latin typeface="Aptos Display"/>
              </a:rPr>
              <a:t>1 500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" y="4323384"/>
            <a:ext cx="2238300" cy="1306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88888"/>
                </a:solidFill>
                <a:latin typeface="Aptos Display"/>
              </a:rPr>
              <a:t>billets dans le jeu de données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462300" y="2008800"/>
            <a:ext cx="2526299" cy="3733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6300" y="2382120"/>
            <a:ext cx="2238300" cy="1866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E86C1"/>
                </a:solidFill>
                <a:latin typeface="Aptos Display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6300" y="4323384"/>
            <a:ext cx="2238300" cy="1306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88888"/>
                </a:solidFill>
                <a:latin typeface="Aptos Display"/>
              </a:rPr>
              <a:t>mesures physiques par billet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04600" y="2008800"/>
            <a:ext cx="2526299" cy="3733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8599" y="2382120"/>
            <a:ext cx="2238300" cy="1866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E86C1"/>
                </a:solidFill>
                <a:latin typeface="Aptos Display"/>
              </a:rPr>
              <a:t>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8599" y="4323384"/>
            <a:ext cx="2238300" cy="1306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88888"/>
                </a:solidFill>
                <a:latin typeface="Aptos Display"/>
              </a:rPr>
              <a:t>valeurs manquantes (margin_low)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46899" y="2008800"/>
            <a:ext cx="2526299" cy="3733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0899" y="2382120"/>
            <a:ext cx="2238300" cy="1866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E86C1"/>
                </a:solidFill>
                <a:latin typeface="Aptos Display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0899" y="4323384"/>
            <a:ext cx="2238300" cy="1306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88888"/>
                </a:solidFill>
                <a:latin typeface="Aptos Display"/>
              </a:rPr>
              <a:t>algorithmes comparés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000" y="5886000"/>
            <a:ext cx="107532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88888"/>
                </a:solidFill>
                <a:latin typeface="Aptos Display"/>
              </a:rPr>
              <a:t>Données ONCFM — scans physiques : diagonal, hauteurs gauche/droite, marges basse/haute, longueur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01200" y="6462000"/>
            <a:ext cx="64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888888"/>
                </a:solidFill>
                <a:latin typeface="Aptos Display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0000" y="2340000"/>
            <a:ext cx="100332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Aptos Display"/>
              </a:rPr>
              <a:t>Les données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000" y="3780000"/>
            <a:ext cx="10033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D6EAF8"/>
                </a:solidFill>
                <a:latin typeface="Aptos Display"/>
              </a:rPr>
              <a:t>Exploration du jeu d'entraînement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01200" y="6462000"/>
            <a:ext cx="64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16000"/>
            <a:ext cx="10753200" cy="11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C1C1C"/>
                </a:solidFill>
                <a:latin typeface="Aptos Display"/>
              </a:rPr>
              <a:t>Les faux billets se distinguent nettement sur margin_low et length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620000"/>
            <a:ext cx="10753200" cy="288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2315431"/>
            <a:ext cx="7099919" cy="38759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963919" y="2008800"/>
            <a:ext cx="3509280" cy="1328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07919" y="2141640"/>
            <a:ext cx="3221280" cy="66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E8A44"/>
                </a:solidFill>
                <a:latin typeface="Aptos Display"/>
              </a:rPr>
              <a:t>1 000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07919" y="2832408"/>
            <a:ext cx="3221280" cy="464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88888"/>
                </a:solidFill>
                <a:latin typeface="Aptos Display"/>
              </a:rPr>
              <a:t>billets vrais  (67 %)</a:t>
            </a:r>
          </a:p>
        </p:txBody>
      </p:sp>
      <p:sp>
        <p:nvSpPr>
          <p:cNvPr id="8" name="Rectangle 7"/>
          <p:cNvSpPr/>
          <p:nvPr/>
        </p:nvSpPr>
        <p:spPr>
          <a:xfrm>
            <a:off x="7963919" y="3589199"/>
            <a:ext cx="3509280" cy="1328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07919" y="3722039"/>
            <a:ext cx="3221280" cy="66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C0392B"/>
                </a:solidFill>
                <a:latin typeface="Aptos Display"/>
              </a:rPr>
              <a:t>500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07919" y="4412808"/>
            <a:ext cx="3221280" cy="464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88888"/>
                </a:solidFill>
                <a:latin typeface="Aptos Display"/>
              </a:rPr>
              <a:t>faux billets  (33 %)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63919" y="5169600"/>
            <a:ext cx="3509280" cy="1328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7919" y="5302440"/>
            <a:ext cx="3221280" cy="66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E86C1"/>
                </a:solidFill>
                <a:latin typeface="Aptos Display"/>
              </a:rPr>
              <a:t>2:1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7919" y="5993208"/>
            <a:ext cx="3221280" cy="464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88888"/>
                </a:solidFill>
                <a:latin typeface="Aptos Display"/>
              </a:rPr>
              <a:t>ratio vrais / faux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01200" y="6462000"/>
            <a:ext cx="64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888888"/>
                </a:solidFill>
                <a:latin typeface="Aptos Display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16000"/>
            <a:ext cx="10753200" cy="11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C1C1C"/>
                </a:solidFill>
                <a:latin typeface="Aptos Display"/>
              </a:rPr>
              <a:t>margin_low : 20 valeurs manquantes comblées par régression linéaire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620000"/>
            <a:ext cx="10753200" cy="288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239" y="2008800"/>
            <a:ext cx="5747440" cy="44892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963919" y="2008800"/>
            <a:ext cx="3509280" cy="2118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07919" y="2220660"/>
            <a:ext cx="3221280" cy="1059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E86C1"/>
                </a:solidFill>
                <a:latin typeface="Aptos Display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07919" y="3322332"/>
            <a:ext cx="3221280" cy="741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88888"/>
                </a:solidFill>
                <a:latin typeface="Aptos Display"/>
              </a:rPr>
              <a:t>valeurs manquantes dans margin_low</a:t>
            </a:r>
          </a:p>
        </p:txBody>
      </p:sp>
      <p:sp>
        <p:nvSpPr>
          <p:cNvPr id="8" name="Rectangle 7"/>
          <p:cNvSpPr/>
          <p:nvPr/>
        </p:nvSpPr>
        <p:spPr>
          <a:xfrm>
            <a:off x="7963919" y="4379400"/>
            <a:ext cx="3509280" cy="2118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07919" y="4591260"/>
            <a:ext cx="3221280" cy="1059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E86C1"/>
                </a:solidFill>
                <a:latin typeface="Aptos Display"/>
              </a:rPr>
              <a:t>Rég.
lin.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07919" y="5692932"/>
            <a:ext cx="3221280" cy="741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88888"/>
                </a:solidFill>
                <a:latin typeface="Aptos Display"/>
              </a:rPr>
              <a:t>imputation sur les 5 autres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01200" y="6462000"/>
            <a:ext cx="64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888888"/>
                </a:solidFill>
                <a:latin typeface="Aptos Display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0000" y="2340000"/>
            <a:ext cx="100332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Aptos Display"/>
              </a:rPr>
              <a:t>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000" y="3780000"/>
            <a:ext cx="10033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D6EAF8"/>
                </a:solidFill>
                <a:latin typeface="Aptos Display"/>
              </a:rPr>
              <a:t>Préparer les données avant la modélisation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01200" y="6462000"/>
            <a:ext cx="64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Aptos Display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16000"/>
            <a:ext cx="10753200" cy="11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C1C1C"/>
                </a:solidFill>
                <a:latin typeface="Aptos Display"/>
              </a:rPr>
              <a:t>4 étapes de preprocessing avant la modélisation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620000"/>
            <a:ext cx="10753200" cy="288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20000" y="2008800"/>
            <a:ext cx="2553300" cy="4489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20000" y="2008800"/>
            <a:ext cx="2553300" cy="720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4000" y="2116800"/>
            <a:ext cx="22653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Aptos Display"/>
              </a:rPr>
              <a:t>Encodage cible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4000" y="2872800"/>
            <a:ext cx="2265300" cy="355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1C1C"/>
                </a:solidFill>
                <a:latin typeface="Aptos Display"/>
              </a:rPr>
              <a:t>is_genuine : True/False
→ 1 (vrai) / 0 (faux)</a:t>
            </a:r>
          </a:p>
        </p:txBody>
      </p:sp>
      <p:sp>
        <p:nvSpPr>
          <p:cNvPr id="8" name="Rectangle 7"/>
          <p:cNvSpPr/>
          <p:nvPr/>
        </p:nvSpPr>
        <p:spPr>
          <a:xfrm>
            <a:off x="3453300" y="2008800"/>
            <a:ext cx="2553300" cy="4489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53300" y="2008800"/>
            <a:ext cx="2553300" cy="720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7300" y="2116800"/>
            <a:ext cx="22653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Aptos Display"/>
              </a:rPr>
              <a:t>Imputation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7300" y="2872800"/>
            <a:ext cx="2265300" cy="355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1C1C"/>
                </a:solidFill>
                <a:latin typeface="Aptos Display"/>
              </a:rPr>
              <a:t>margin_low : 20 lignes manquantes comblées par régression linéaire sur les 5 autres features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6600" y="2008800"/>
            <a:ext cx="2553300" cy="4489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86600" y="2008800"/>
            <a:ext cx="2553300" cy="720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0599" y="2116800"/>
            <a:ext cx="22653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Aptos Display"/>
              </a:rPr>
              <a:t>Standardisation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0599" y="2872800"/>
            <a:ext cx="2265300" cy="355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1C1C"/>
                </a:solidFill>
                <a:latin typeface="Aptos Display"/>
              </a:rPr>
              <a:t>StandardScaler
(moyenne=0, écart-type=1)
Obligatoire pour KNN,
K-means, rég. log.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19899" y="2008800"/>
            <a:ext cx="2553300" cy="4489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19899" y="2008800"/>
            <a:ext cx="2553300" cy="720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63899" y="2116800"/>
            <a:ext cx="22653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Aptos Display"/>
              </a:rPr>
              <a:t>Split stratifié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63899" y="2872800"/>
            <a:ext cx="2265300" cy="355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1C1C"/>
                </a:solidFill>
                <a:latin typeface="Aptos Display"/>
              </a:rPr>
              <a:t>75 % train — 1 125 billets
25 % test  — 375 billets
Stratifié : préserve
le ratio 2:1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01200" y="6462000"/>
            <a:ext cx="64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888888"/>
                </a:solidFill>
                <a:latin typeface="Aptos Display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0000" y="2340000"/>
            <a:ext cx="100332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Aptos Display"/>
              </a:rPr>
              <a:t>Modélisation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000" y="3780000"/>
            <a:ext cx="10033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D6EAF8"/>
                </a:solidFill>
                <a:latin typeface="Aptos Display"/>
              </a:rPr>
              <a:t>Comparaison de 4 algorithmes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01200" y="6462000"/>
            <a:ext cx="64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Aptos Display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16000"/>
            <a:ext cx="10753200" cy="11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C1C1C"/>
                </a:solidFill>
                <a:latin typeface="Aptos Display"/>
              </a:rPr>
              <a:t>K-means : prédiction par distance aux centroïdes (non supervisé)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620000"/>
            <a:ext cx="10753200" cy="288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m_kme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6967" y="2008800"/>
            <a:ext cx="5505984" cy="44892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963919" y="2008800"/>
            <a:ext cx="3509280" cy="1328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07919" y="2141640"/>
            <a:ext cx="3221280" cy="66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E86C1"/>
                </a:solidFill>
                <a:latin typeface="Aptos Display"/>
              </a:rPr>
              <a:t>98.4 %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07919" y="2832408"/>
            <a:ext cx="3221280" cy="464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88888"/>
                </a:solidFill>
                <a:latin typeface="Aptos Display"/>
              </a:rPr>
              <a:t>Recall — faux billets</a:t>
            </a:r>
          </a:p>
        </p:txBody>
      </p:sp>
      <p:sp>
        <p:nvSpPr>
          <p:cNvPr id="8" name="Rectangle 7"/>
          <p:cNvSpPr/>
          <p:nvPr/>
        </p:nvSpPr>
        <p:spPr>
          <a:xfrm>
            <a:off x="7963919" y="3589199"/>
            <a:ext cx="3509280" cy="1328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07919" y="3722039"/>
            <a:ext cx="3221280" cy="66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E86C1"/>
                </a:solidFill>
                <a:latin typeface="Aptos Display"/>
              </a:rPr>
              <a:t>98.7 %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07919" y="4412808"/>
            <a:ext cx="3221280" cy="464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88888"/>
                </a:solidFill>
                <a:latin typeface="Aptos Display"/>
              </a:rPr>
              <a:t>Accuracy globale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63919" y="5169600"/>
            <a:ext cx="3509280" cy="1328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7919" y="5302440"/>
            <a:ext cx="3221280" cy="66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888888"/>
                </a:solidFill>
                <a:latin typeface="Aptos Display"/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7919" y="5993208"/>
            <a:ext cx="3221280" cy="464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88888"/>
                </a:solidFill>
                <a:latin typeface="Aptos Display"/>
              </a:rPr>
              <a:t>AUC-ROC
(pas de proba)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01200" y="6462000"/>
            <a:ext cx="64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888888"/>
                </a:solidFill>
                <a:latin typeface="Aptos Display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16000"/>
            <a:ext cx="10753200" cy="11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C1C1C"/>
                </a:solidFill>
                <a:latin typeface="Aptos Display"/>
              </a:rPr>
              <a:t>Régression logistique : margin_low et length sont les features décisives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620000"/>
            <a:ext cx="10753200" cy="288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ef_logre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2256012"/>
            <a:ext cx="7099919" cy="399477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963919" y="2008800"/>
            <a:ext cx="3509280" cy="1328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07919" y="2141640"/>
            <a:ext cx="3221280" cy="66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E8A44"/>
                </a:solidFill>
                <a:latin typeface="Aptos Display"/>
              </a:rPr>
              <a:t>98.4 %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07919" y="2832408"/>
            <a:ext cx="3221280" cy="464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88888"/>
                </a:solidFill>
                <a:latin typeface="Aptos Display"/>
              </a:rPr>
              <a:t>Recall — faux billets</a:t>
            </a:r>
          </a:p>
        </p:txBody>
      </p:sp>
      <p:sp>
        <p:nvSpPr>
          <p:cNvPr id="8" name="Rectangle 7"/>
          <p:cNvSpPr/>
          <p:nvPr/>
        </p:nvSpPr>
        <p:spPr>
          <a:xfrm>
            <a:off x="7963919" y="3589199"/>
            <a:ext cx="3509280" cy="1328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07919" y="3722039"/>
            <a:ext cx="3221280" cy="66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E86C1"/>
                </a:solidFill>
                <a:latin typeface="Aptos Display"/>
              </a:rPr>
              <a:t>99.2 %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07919" y="4412808"/>
            <a:ext cx="3221280" cy="464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88888"/>
                </a:solidFill>
                <a:latin typeface="Aptos Display"/>
              </a:rPr>
              <a:t>Accuracy globale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63919" y="5169600"/>
            <a:ext cx="3509280" cy="1328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7919" y="5302440"/>
            <a:ext cx="3221280" cy="66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E86C1"/>
                </a:solidFill>
                <a:latin typeface="Aptos Display"/>
              </a:rPr>
              <a:t>0.9996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7919" y="5993208"/>
            <a:ext cx="3221280" cy="464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88888"/>
                </a:solidFill>
                <a:latin typeface="Aptos Display"/>
              </a:rPr>
              <a:t>AUC-ROC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01200" y="6462000"/>
            <a:ext cx="64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888888"/>
                </a:solidFill>
                <a:latin typeface="Aptos Display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16000"/>
            <a:ext cx="10753200" cy="11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C1C1C"/>
                </a:solidFill>
                <a:latin typeface="Aptos Display"/>
              </a:rPr>
              <a:t>KNN : k optimal trouvé par GridSearchCV — meilleur AUC-ROC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620000"/>
            <a:ext cx="10753200" cy="288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nn_k_optim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2504632"/>
            <a:ext cx="7099919" cy="349753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963919" y="2008800"/>
            <a:ext cx="3509280" cy="1328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07919" y="2141640"/>
            <a:ext cx="3221280" cy="66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E8A44"/>
                </a:solidFill>
                <a:latin typeface="Aptos Display"/>
              </a:rPr>
              <a:t>98.4 %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07919" y="2832408"/>
            <a:ext cx="3221280" cy="464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88888"/>
                </a:solidFill>
                <a:latin typeface="Aptos Display"/>
              </a:rPr>
              <a:t>Recall — faux billets</a:t>
            </a:r>
          </a:p>
        </p:txBody>
      </p:sp>
      <p:sp>
        <p:nvSpPr>
          <p:cNvPr id="8" name="Rectangle 7"/>
          <p:cNvSpPr/>
          <p:nvPr/>
        </p:nvSpPr>
        <p:spPr>
          <a:xfrm>
            <a:off x="7963919" y="3589199"/>
            <a:ext cx="3509280" cy="1328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07919" y="3722039"/>
            <a:ext cx="3221280" cy="66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E86C1"/>
                </a:solidFill>
                <a:latin typeface="Aptos Display"/>
              </a:rPr>
              <a:t>99.2 %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07919" y="4412808"/>
            <a:ext cx="3221280" cy="464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88888"/>
                </a:solidFill>
                <a:latin typeface="Aptos Display"/>
              </a:rPr>
              <a:t>Accuracy globale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63919" y="5169600"/>
            <a:ext cx="3509280" cy="1328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7919" y="5302440"/>
            <a:ext cx="3221280" cy="66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E8A44"/>
                </a:solidFill>
                <a:latin typeface="Aptos Display"/>
              </a:rPr>
              <a:t>0.9997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7919" y="5993208"/>
            <a:ext cx="3221280" cy="464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88888"/>
                </a:solidFill>
                <a:latin typeface="Aptos Display"/>
              </a:rPr>
              <a:t>AUC-ROC  meilleur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01200" y="6462000"/>
            <a:ext cx="64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888888"/>
                </a:solidFill>
                <a:latin typeface="Aptos Display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16000"/>
            <a:ext cx="10753200" cy="11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C1C1C"/>
                </a:solidFill>
                <a:latin typeface="Aptos Display"/>
              </a:rPr>
              <a:t>Random Forest : margin_low domine les feature importances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620000"/>
            <a:ext cx="10753200" cy="288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f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3068391"/>
            <a:ext cx="7099919" cy="237001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963919" y="2008800"/>
            <a:ext cx="3509280" cy="1328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07919" y="2141640"/>
            <a:ext cx="3221280" cy="66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E8A44"/>
                </a:solidFill>
                <a:latin typeface="Aptos Display"/>
              </a:rPr>
              <a:t>98.4 %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07919" y="2832408"/>
            <a:ext cx="3221280" cy="464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88888"/>
                </a:solidFill>
                <a:latin typeface="Aptos Display"/>
              </a:rPr>
              <a:t>Recall — faux billets</a:t>
            </a:r>
          </a:p>
        </p:txBody>
      </p:sp>
      <p:sp>
        <p:nvSpPr>
          <p:cNvPr id="8" name="Rectangle 7"/>
          <p:cNvSpPr/>
          <p:nvPr/>
        </p:nvSpPr>
        <p:spPr>
          <a:xfrm>
            <a:off x="7963919" y="3589199"/>
            <a:ext cx="3509280" cy="1328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07919" y="3722039"/>
            <a:ext cx="3221280" cy="66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E86C1"/>
                </a:solidFill>
                <a:latin typeface="Aptos Display"/>
              </a:rPr>
              <a:t>99.2 %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07919" y="4412808"/>
            <a:ext cx="3221280" cy="464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88888"/>
                </a:solidFill>
                <a:latin typeface="Aptos Display"/>
              </a:rPr>
              <a:t>Accuracy globale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63919" y="5169600"/>
            <a:ext cx="3509280" cy="1328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7919" y="5302440"/>
            <a:ext cx="3221280" cy="66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E86C1"/>
                </a:solidFill>
                <a:latin typeface="Aptos Display"/>
              </a:rPr>
              <a:t>0.9994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7919" y="5993208"/>
            <a:ext cx="3221280" cy="464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88888"/>
                </a:solidFill>
                <a:latin typeface="Aptos Display"/>
              </a:rPr>
              <a:t>AUC-ROC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01200" y="6462000"/>
            <a:ext cx="64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888888"/>
                </a:solidFill>
                <a:latin typeface="Aptos Display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16000"/>
            <a:ext cx="10753200" cy="11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C1C1C"/>
                </a:solidFill>
                <a:latin typeface="Aptos Display"/>
              </a:rPr>
              <a:t>Les 3 modèles supervisés atteignent 99.2 % d'accuracy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620000"/>
            <a:ext cx="10753200" cy="288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mparaison_mode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2701123"/>
            <a:ext cx="7099919" cy="310455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963919" y="2008800"/>
            <a:ext cx="3509280" cy="1328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07919" y="2141640"/>
            <a:ext cx="3221280" cy="66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E8A44"/>
                </a:solidFill>
                <a:latin typeface="Aptos Display"/>
              </a:rPr>
              <a:t>KNN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07919" y="2832408"/>
            <a:ext cx="3221280" cy="464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88888"/>
                </a:solidFill>
                <a:latin typeface="Aptos Display"/>
              </a:rPr>
              <a:t>modèle retenu</a:t>
            </a:r>
          </a:p>
        </p:txBody>
      </p:sp>
      <p:sp>
        <p:nvSpPr>
          <p:cNvPr id="8" name="Rectangle 7"/>
          <p:cNvSpPr/>
          <p:nvPr/>
        </p:nvSpPr>
        <p:spPr>
          <a:xfrm>
            <a:off x="7963919" y="3589199"/>
            <a:ext cx="3509280" cy="1328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07919" y="3722039"/>
            <a:ext cx="3221280" cy="66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E8A44"/>
                </a:solidFill>
                <a:latin typeface="Aptos Display"/>
              </a:rPr>
              <a:t>98.4 %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07919" y="4412808"/>
            <a:ext cx="3221280" cy="464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88888"/>
                </a:solidFill>
                <a:latin typeface="Aptos Display"/>
              </a:rPr>
              <a:t>Recall(Faux)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63919" y="5169600"/>
            <a:ext cx="3509280" cy="1328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7919" y="5302440"/>
            <a:ext cx="3221280" cy="66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E8A44"/>
                </a:solidFill>
                <a:latin typeface="Aptos Display"/>
              </a:rPr>
              <a:t>0.9997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7919" y="5993208"/>
            <a:ext cx="3221280" cy="464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88888"/>
                </a:solidFill>
                <a:latin typeface="Aptos Display"/>
              </a:rPr>
              <a:t>AUC-ROC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01200" y="6462000"/>
            <a:ext cx="64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888888"/>
                </a:solidFill>
                <a:latin typeface="Aptos Display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16000"/>
            <a:ext cx="10753200" cy="11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C1C1C"/>
                </a:solidFill>
                <a:latin typeface="Aptos Display"/>
              </a:rPr>
              <a:t>KNN retenu : meilleure séparation probabiliste des classes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620000"/>
            <a:ext cx="10753200" cy="288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20000" y="2008800"/>
            <a:ext cx="2553300" cy="4489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20000" y="2008800"/>
            <a:ext cx="2553300" cy="720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4000" y="2116800"/>
            <a:ext cx="22653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Aptos Display"/>
              </a:rPr>
              <a:t>Critère 1 — Recall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4000" y="2872800"/>
            <a:ext cx="2265300" cy="355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1C1C"/>
                </a:solidFill>
                <a:latin typeface="Aptos Display"/>
              </a:rPr>
              <a:t>Recall(Faux) = 0.984
Priorité absolue : un faux billet classé vrai est un risque opérationnel majeur</a:t>
            </a:r>
          </a:p>
        </p:txBody>
      </p:sp>
      <p:sp>
        <p:nvSpPr>
          <p:cNvPr id="8" name="Rectangle 7"/>
          <p:cNvSpPr/>
          <p:nvPr/>
        </p:nvSpPr>
        <p:spPr>
          <a:xfrm>
            <a:off x="3453300" y="2008800"/>
            <a:ext cx="2553300" cy="4489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53300" y="2008800"/>
            <a:ext cx="2553300" cy="720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7300" y="2116800"/>
            <a:ext cx="22653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Aptos Display"/>
              </a:rPr>
              <a:t>Égalité sur 3 modèles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7300" y="2872800"/>
            <a:ext cx="2265300" cy="355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1C1C"/>
                </a:solidFill>
                <a:latin typeface="Aptos Display"/>
              </a:rPr>
              <a:t>Rég. log., KNN et Random Forest atteignent tous Recall = 0.984 et F1 = 0.988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6600" y="2008800"/>
            <a:ext cx="2553300" cy="4489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86600" y="2008800"/>
            <a:ext cx="2553300" cy="720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0599" y="2116800"/>
            <a:ext cx="22653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Aptos Display"/>
              </a:rPr>
              <a:t>Tie-break AUC-ROC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0599" y="2872800"/>
            <a:ext cx="2265300" cy="355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1C1C"/>
                </a:solidFill>
                <a:latin typeface="Aptos Display"/>
              </a:rPr>
              <a:t>KNN : 0.9997
Rég. log. : 0.9996
Random Forest : 0.9994
KNN discrimine mieux en probabilité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19899" y="2008800"/>
            <a:ext cx="2553300" cy="4489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19899" y="2008800"/>
            <a:ext cx="2553300" cy="720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63899" y="2116800"/>
            <a:ext cx="22653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Aptos Display"/>
              </a:rPr>
              <a:t>K-means écarté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63899" y="2872800"/>
            <a:ext cx="2265300" cy="355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1C1C"/>
                </a:solidFill>
                <a:latin typeface="Aptos Display"/>
              </a:rPr>
              <a:t>Algorithme non supervisé : l'alignement cluster/classe est une inférence post-hoc, moins robuste sur données inconnues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01200" y="6462000"/>
            <a:ext cx="64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888888"/>
                </a:solidFill>
                <a:latin typeface="Aptos Display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0000" y="2340000"/>
            <a:ext cx="100332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Aptos Display"/>
              </a:rPr>
              <a:t>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000" y="3780000"/>
            <a:ext cx="10033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D6EAF8"/>
                </a:solidFill>
                <a:latin typeface="Aptos Display"/>
              </a:rPr>
              <a:t>Script Python prêt pour la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01200" y="6462000"/>
            <a:ext cx="64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Aptos Display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16000"/>
            <a:ext cx="10753200" cy="11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C1C1C"/>
                </a:solidFill>
                <a:latin typeface="Aptos Display"/>
              </a:rPr>
              <a:t>2 modes d'utilisation — une ligne de sortie par billet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620000"/>
            <a:ext cx="10753200" cy="288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20000" y="2008800"/>
            <a:ext cx="5304600" cy="4489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6000" y="2134800"/>
            <a:ext cx="5052600" cy="43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A5276"/>
                </a:solidFill>
                <a:latin typeface="Aptos Display"/>
              </a:rPr>
              <a:t>Mode CSV  (multi-billets)</a:t>
            </a:r>
          </a:p>
          <a:p>
            <a:pPr algn="l"/>
            <a:r>
              <a:rPr sz="1500" b="0">
                <a:solidFill>
                  <a:srgbClr val="1C1C1C"/>
                </a:solidFill>
                <a:latin typeface="Aptos Display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1C1C1C"/>
                </a:solidFill>
                <a:latin typeface="Aptos Display"/>
              </a:rPr>
              <a:t>python script.py \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1C1C1C"/>
                </a:solidFill>
                <a:latin typeface="Aptos Display"/>
              </a:rPr>
              <a:t>  --csv billets_production.csv</a:t>
            </a:r>
          </a:p>
          <a:p>
            <a:pPr algn="l"/>
            <a:r>
              <a:rPr sz="1500" b="0">
                <a:solidFill>
                  <a:srgbClr val="1C1C1C"/>
                </a:solidFill>
                <a:latin typeface="Aptos Display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1E8A44"/>
                </a:solidFill>
                <a:latin typeface="Aptos Display"/>
              </a:rPr>
              <a:t>VRAI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1E8A44"/>
                </a:solidFill>
                <a:latin typeface="Aptos Display"/>
              </a:rPr>
              <a:t>VRAI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C0392B"/>
                </a:solidFill>
                <a:latin typeface="Aptos Display"/>
              </a:rPr>
              <a:t>FAUX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1E8A44"/>
                </a:solidFill>
                <a:latin typeface="Aptos Display"/>
              </a:rPr>
              <a:t>VRAI</a:t>
            </a:r>
          </a:p>
          <a:p>
            <a:pPr algn="l"/>
            <a:r>
              <a:rPr sz="1500" b="0">
                <a:solidFill>
                  <a:srgbClr val="1C1C1C"/>
                </a:solidFill>
                <a:latin typeface="Aptos Display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888888"/>
                </a:solidFill>
                <a:latin typeface="Aptos Display"/>
              </a:rPr>
              <a:t>Une ligne par billet dans l'ordre du CSV</a:t>
            </a:r>
          </a:p>
        </p:txBody>
      </p:sp>
      <p:sp>
        <p:nvSpPr>
          <p:cNvPr id="6" name="Rectangle 5"/>
          <p:cNvSpPr/>
          <p:nvPr/>
        </p:nvSpPr>
        <p:spPr>
          <a:xfrm>
            <a:off x="6168599" y="2008800"/>
            <a:ext cx="5304600" cy="4489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94600" y="2134800"/>
            <a:ext cx="5052600" cy="43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A5276"/>
                </a:solidFill>
                <a:latin typeface="Aptos Display"/>
              </a:rPr>
              <a:t>Mode valeurs  (1 billet)</a:t>
            </a:r>
          </a:p>
          <a:p>
            <a:pPr algn="l"/>
            <a:r>
              <a:rPr sz="1500" b="0">
                <a:solidFill>
                  <a:srgbClr val="1C1C1C"/>
                </a:solidFill>
                <a:latin typeface="Aptos Display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1C1C1C"/>
                </a:solidFill>
                <a:latin typeface="Aptos Display"/>
              </a:rPr>
              <a:t>python script.py --values \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1C1C1C"/>
                </a:solidFill>
                <a:latin typeface="Aptos Display"/>
              </a:rPr>
              <a:t>  172.28 103.95 103.91 \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1C1C1C"/>
                </a:solidFill>
                <a:latin typeface="Aptos Display"/>
              </a:rPr>
              <a:t>  4.78 3.31 111.40</a:t>
            </a:r>
          </a:p>
          <a:p>
            <a:pPr algn="l"/>
            <a:r>
              <a:rPr sz="1500" b="0">
                <a:solidFill>
                  <a:srgbClr val="1C1C1C"/>
                </a:solidFill>
                <a:latin typeface="Aptos Display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C0392B"/>
                </a:solidFill>
                <a:latin typeface="Aptos Display"/>
              </a:rPr>
              <a:t>FAUX</a:t>
            </a:r>
          </a:p>
          <a:p>
            <a:pPr algn="l"/>
            <a:r>
              <a:rPr sz="1500" b="0">
                <a:solidFill>
                  <a:srgbClr val="1C1C1C"/>
                </a:solidFill>
                <a:latin typeface="Aptos Display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888888"/>
                </a:solidFill>
                <a:latin typeface="Aptos Display"/>
              </a:rPr>
              <a:t>Ordre des valeurs :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888888"/>
                </a:solidFill>
                <a:latin typeface="Aptos Display"/>
              </a:rPr>
              <a:t>diagonal  height_left  height_right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888888"/>
                </a:solidFill>
                <a:latin typeface="Aptos Display"/>
              </a:rPr>
              <a:t>margin_low  margin_up  length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01200" y="6462000"/>
            <a:ext cx="64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888888"/>
                </a:solidFill>
                <a:latin typeface="Aptos Display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16000"/>
            <a:ext cx="107532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C1C1C"/>
                </a:solidFill>
                <a:latin typeface="Aptos Display"/>
              </a:rPr>
              <a:t>Résultats — modèle KNN validé sur 375 billets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115999"/>
            <a:ext cx="10753200" cy="288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20000" y="1504800"/>
            <a:ext cx="2526299" cy="423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4000" y="1928520"/>
            <a:ext cx="2238300" cy="211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E8A44"/>
                </a:solidFill>
                <a:latin typeface="Aptos Display"/>
              </a:rPr>
              <a:t>99.2 %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" y="4131864"/>
            <a:ext cx="2238300" cy="1483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88888"/>
                </a:solidFill>
                <a:latin typeface="Aptos Display"/>
              </a:rPr>
              <a:t>Accuracy globale</a:t>
            </a:r>
          </a:p>
        </p:txBody>
      </p:sp>
      <p:sp>
        <p:nvSpPr>
          <p:cNvPr id="7" name="Rectangle 6"/>
          <p:cNvSpPr/>
          <p:nvPr/>
        </p:nvSpPr>
        <p:spPr>
          <a:xfrm>
            <a:off x="3462300" y="1504800"/>
            <a:ext cx="2526299" cy="423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6300" y="1928520"/>
            <a:ext cx="2238300" cy="211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E8A44"/>
                </a:solidFill>
                <a:latin typeface="Aptos Display"/>
              </a:rPr>
              <a:t>98.4 %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6300" y="4131864"/>
            <a:ext cx="2238300" cy="1483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88888"/>
                </a:solidFill>
                <a:latin typeface="Aptos Display"/>
              </a:rPr>
              <a:t>Recall — faux billets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04600" y="1504800"/>
            <a:ext cx="2526299" cy="423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8599" y="1928520"/>
            <a:ext cx="2238300" cy="211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E8A44"/>
                </a:solidFill>
                <a:latin typeface="Aptos Display"/>
              </a:rPr>
              <a:t>0.9997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8599" y="4131864"/>
            <a:ext cx="2238300" cy="1483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88888"/>
                </a:solidFill>
                <a:latin typeface="Aptos Display"/>
              </a:rPr>
              <a:t>AUC-ROC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46899" y="1504800"/>
            <a:ext cx="2526299" cy="423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0899" y="1928520"/>
            <a:ext cx="2238300" cy="211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E86C1"/>
                </a:solidFill>
                <a:latin typeface="Aptos Display"/>
              </a:rPr>
              <a:t>2 modes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0899" y="4131864"/>
            <a:ext cx="2238300" cy="1483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88888"/>
                </a:solidFill>
                <a:latin typeface="Aptos Display"/>
              </a:rPr>
              <a:t>CSV ou valeurs directes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000" y="5886000"/>
            <a:ext cx="107532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88888"/>
                </a:solidFill>
                <a:latin typeface="Aptos Display"/>
              </a:rPr>
              <a:t>Entraîné sur 1 125 billets, validé sur 375 — données ONCFM, juin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01200" y="6462000"/>
            <a:ext cx="64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888888"/>
                </a:solidFill>
                <a:latin typeface="Aptos Display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