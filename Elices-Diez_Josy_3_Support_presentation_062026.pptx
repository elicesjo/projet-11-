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007999"/>
            <a:ext cx="10753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Aptos Display"/>
              </a:rPr>
              <a:t>Détection de faux billets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448000"/>
            <a:ext cx="107532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D6EAF8"/>
                </a:solidFill>
                <a:latin typeface="Aptos Display"/>
              </a:rPr>
              <a:t>Classification par caractéristiques physiques — ONCFM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3671999"/>
            <a:ext cx="10753200" cy="216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6210000"/>
            <a:ext cx="1075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AF8"/>
                </a:solidFill>
                <a:latin typeface="Aptos Display"/>
              </a:rPr>
              <a:t>Josy Elices-Diez  |  Juin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Sommaire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115999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0000" y="1504800"/>
            <a:ext cx="2553300" cy="499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1504800"/>
            <a:ext cx="125999" cy="4993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4000" y="1684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Les données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000" y="2188800"/>
            <a:ext cx="2193300" cy="420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1 500 billets, 6 mesures physiques, ratio 2:1 vrais / faux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3300" y="1504800"/>
            <a:ext cx="2553300" cy="499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3300" y="1504800"/>
            <a:ext cx="125999" cy="4993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7300" y="1684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7300" y="2188800"/>
            <a:ext cx="2193300" cy="420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Encodage, imputation, standardisation, split stratifié 67/33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600" y="1504800"/>
            <a:ext cx="2553300" cy="499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6600" y="1504800"/>
            <a:ext cx="125999" cy="4993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0599" y="1684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Modélisation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0599" y="2188800"/>
            <a:ext cx="2193300" cy="420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4 algorithmes : K-means, Rég. logistique, KNN, Random Forest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9899" y="1504800"/>
            <a:ext cx="2553300" cy="499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9899" y="1504800"/>
            <a:ext cx="125999" cy="4993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899" y="1684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Application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899" y="2188800"/>
            <a:ext cx="2193300" cy="420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Script Python — 2 modes d'entrée, sortie VRAI / FAUX par billet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ptos Display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780000"/>
            <a:ext cx="1003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D6EAF8"/>
                </a:solidFill>
                <a:latin typeface="Aptos Display"/>
              </a:rPr>
              <a:t>Exploration du jeu d'entraînement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Les faux billets se distinguent nettement sur margin_low et 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15431"/>
            <a:ext cx="7099919" cy="38759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07919" y="21947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1 000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28324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billets vrais  (67 %)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3589199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63919" y="3589199"/>
            <a:ext cx="3509280" cy="79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919" y="3775175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C0392B"/>
                </a:solidFill>
                <a:latin typeface="Aptos Display"/>
              </a:rPr>
              <a:t>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44128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faux billets  (33 %)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919" y="51696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3919" y="51696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919" y="53555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2:1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919" y="59932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ratio vrais / faux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Pairplot : margin_low et length séparent clairement les deux classes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i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294" y="2008800"/>
            <a:ext cx="4709331" cy="4489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07919" y="21947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28324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features — toutes les paires visualisées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3589199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63919" y="3589199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919" y="3775175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Bleu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44128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vrais billets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919" y="51696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3919" y="5169600"/>
            <a:ext cx="3509280" cy="79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919" y="53555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C0392B"/>
                </a:solidFill>
                <a:latin typeface="Aptos Display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919" y="59932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faux billets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margin_low : 37 valeurs manquantes comblées par régression linéaire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648" y="2008800"/>
            <a:ext cx="5500622" cy="4489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21186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07919" y="2305404"/>
            <a:ext cx="3221280" cy="97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3322332"/>
            <a:ext cx="3221280" cy="699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valeurs manquantes dans margin_low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4379400"/>
            <a:ext cx="3509280" cy="21186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63919" y="43794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919" y="4676004"/>
            <a:ext cx="3221280" cy="97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Rég.
lin.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5692932"/>
            <a:ext cx="3221280" cy="699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imputation sur les 5 autres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ptos Display"/>
              </a:rPr>
              <a:t>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780000"/>
            <a:ext cx="1003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D6EAF8"/>
                </a:solidFill>
                <a:latin typeface="Aptos Display"/>
              </a:rPr>
              <a:t>Préparer les données avant la modélisation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ptos Display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4 étapes de preprocessing avant la modélisation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00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4000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Encodage cible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000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is_genuine : True/False
→ 1 (vrai) / 0 (faux)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33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33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7300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Imputation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7300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margin_low : 37 lignes manquantes comblées par régression linéaire sur les 5 autres 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6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66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0599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Standardisation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0599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StandardScaler
(moyenne=0, écart-type=1)
Obligatoire pour KNN,
K-means, rég. log.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9899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9899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899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Split stratifié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899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67 % train — 1 005 billets
33 % test  — 495 billets
Stratifié : préserve
le ratio 2:1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ptos Display"/>
              </a:rPr>
              <a:t>Modélisation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780000"/>
            <a:ext cx="1003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D6EAF8"/>
                </a:solidFill>
                <a:latin typeface="Aptos Display"/>
              </a:rPr>
              <a:t>Comparaison de 4 algorithmes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ptos Display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K-means : prédiction par distance aux centroïdes (non supervisé)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m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967" y="2008800"/>
            <a:ext cx="5505984" cy="4489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07919" y="21947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97.6 %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28324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Recall — faux billets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3589199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63919" y="3589199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919" y="3775175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98.6 %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44128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Accuracy globale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919" y="51696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3919" y="5169600"/>
            <a:ext cx="3509280" cy="792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919" y="53555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888888"/>
                </a:solidFill>
                <a:latin typeface="Aptos Display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919" y="59932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AUC-ROC
(pas de proba)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Régression logistique : margin_low et length sont les features décisives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ef_log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56012"/>
            <a:ext cx="7099919" cy="39947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07919" y="21947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98.8 %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28324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Recall — faux billets  meilleur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3589199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63919" y="3589199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919" y="3775175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99.4 %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44128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Accuracy globale  meilleure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919" y="51696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3919" y="5169600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919" y="53555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0.9994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919" y="59932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AUC-ROC  meilleur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KNN : k optimal trouvé par GridSearchCV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115999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nn_k_optim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52632"/>
            <a:ext cx="7099919" cy="349753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1504800"/>
            <a:ext cx="3509280" cy="1496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63919" y="15048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07919" y="1714296"/>
            <a:ext cx="3221280" cy="688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98.2 %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2432568"/>
            <a:ext cx="3221280" cy="493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Recall — faux billets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3253200"/>
            <a:ext cx="3509280" cy="1496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63919" y="32532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919" y="3462696"/>
            <a:ext cx="3221280" cy="688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99.0 %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4180968"/>
            <a:ext cx="3221280" cy="493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Accuracy globale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919" y="5001600"/>
            <a:ext cx="3509280" cy="1496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3919" y="50016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919" y="5211096"/>
            <a:ext cx="3221280" cy="688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0.9950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919" y="5929368"/>
            <a:ext cx="3221280" cy="493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AUC-ROC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Random Forest : margin_low domine les feature importances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f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3068391"/>
            <a:ext cx="7099919" cy="23700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07919" y="21947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98.2 %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28324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Recall — faux billets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3589199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63919" y="3589199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919" y="3775175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98.8 %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44128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Accuracy globale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919" y="51696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3919" y="51696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919" y="53555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0.9993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919" y="59932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AUC-ROC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Rég. logistique domine sur les deux critères métier prioritaires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araison_mode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701123"/>
            <a:ext cx="7099919" cy="310455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07919" y="21947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Rég. log.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28324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modèle retenu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3589199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63919" y="3589199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919" y="3775175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98.8 %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44128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Recall(Faux)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919" y="51696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3919" y="5169600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919" y="53555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0.9994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919" y="59932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AUC-ROC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Rég. logistique retenue : meilleure sur les deux critères prioritaires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00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4000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Critère 1 —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000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Recall(Faux) = 0.988 — le plus élevé des 4 algorithmes
Priorité absolue : un faux billet classé vrai est un risque opérationnel majeur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33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33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7300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Critère 2 — AUC-ROC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7300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AUC-ROC = 0.9994 — meilleur des modèles supervisés
vs Random Forest : 0.9993 / KNN : 0.9950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6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66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0599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Interprétabilité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0599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Coefficients directement lisibles — margin_low et length sont les features discriminantes
Accessible pour le métier et auditables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9899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9899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899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K-means écarté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899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Algorithme non supervisé : l'alignement cluster/classe est une inférence post-hoc, moins robuste sur données inconnues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ptos Display"/>
              </a:rPr>
              <a:t>Validation &amp; Coût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780000"/>
            <a:ext cx="1003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D6EAF8"/>
                </a:solidFill>
                <a:latin typeface="Aptos Display"/>
              </a:rPr>
              <a:t>Robustesse et impact métier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ptos Display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Validation croisée 5 folds : résultats stables sur les 3 modèles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00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4000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Protocole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000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5 folds — Pipeline(StandardScaler + modèle)
Le scaler est ajusté uniquement sur les données d'entraînement de chaque fold (pas de data leakage)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33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33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7300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Rég. logistique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7300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Recall(Faux) ≈ 0.984
Résultats cohérents avec le jeu de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6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66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0599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KNN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0599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Recall(Faux) ≈ 0.984
Meilleure AUC-ROC confirmée en validation croisée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9899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9899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899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Random Forest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899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Recall(Faux) ≈ 0.984
Robuste — faible variance entre les 5 folds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Analyse coût : un faux billet non détecté coûte 10× plus cher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ut_mode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44474"/>
            <a:ext cx="7099919" cy="401785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21186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07919" y="2305404"/>
            <a:ext cx="3221280" cy="97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C0392B"/>
                </a:solidFill>
                <a:latin typeface="Aptos Display"/>
              </a:rPr>
              <a:t>500 €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3322332"/>
            <a:ext cx="3221280" cy="699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faux négatif
(faux billet non détecté)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4379400"/>
            <a:ext cx="3509280" cy="21186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63919" y="43794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919" y="4676004"/>
            <a:ext cx="3221280" cy="97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50 €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5692932"/>
            <a:ext cx="3221280" cy="699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faux positif
(vrai billet refusé)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2 modes d'utilisation — une ligne de sortie par billet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0000" y="2008800"/>
            <a:ext cx="53046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6000" y="2134800"/>
            <a:ext cx="5052600" cy="43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A5276"/>
                </a:solidFill>
                <a:latin typeface="Aptos Display"/>
              </a:rPr>
              <a:t>Mode CSV  (multi-billets)</a:t>
            </a:r>
          </a:p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C1C1C"/>
                </a:solidFill>
                <a:latin typeface="Aptos Display"/>
              </a:rPr>
              <a:t>python script.py \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C1C1C"/>
                </a:solidFill>
                <a:latin typeface="Aptos Display"/>
              </a:rPr>
              <a:t>  --csv billets_production.csv</a:t>
            </a:r>
          </a:p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E8A44"/>
                </a:solidFill>
                <a:latin typeface="Aptos Display"/>
              </a:rPr>
              <a:t>VRAI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E8A44"/>
                </a:solidFill>
                <a:latin typeface="Aptos Display"/>
              </a:rPr>
              <a:t>VRAI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C0392B"/>
                </a:solidFill>
                <a:latin typeface="Aptos Display"/>
              </a:rPr>
              <a:t>FAUX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E8A44"/>
                </a:solidFill>
                <a:latin typeface="Aptos Display"/>
              </a:rPr>
              <a:t>VRAI</a:t>
            </a:r>
          </a:p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888888"/>
                </a:solidFill>
                <a:latin typeface="Aptos Display"/>
              </a:rPr>
              <a:t>Une ligne par billet dans l'ordre du CSV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8599" y="2008800"/>
            <a:ext cx="53046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4600" y="2134800"/>
            <a:ext cx="5052600" cy="43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A5276"/>
                </a:solidFill>
                <a:latin typeface="Aptos Display"/>
              </a:rPr>
              <a:t>Mode valeurs  (1 billet)</a:t>
            </a:r>
          </a:p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C1C1C"/>
                </a:solidFill>
                <a:latin typeface="Aptos Display"/>
              </a:rPr>
              <a:t>python script.py --values \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C1C1C"/>
                </a:solidFill>
                <a:latin typeface="Aptos Display"/>
              </a:rPr>
              <a:t>  172.28 103.95 103.91 \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C1C1C"/>
                </a:solidFill>
                <a:latin typeface="Aptos Display"/>
              </a:rPr>
              <a:t>  4.78 3.31 111.40</a:t>
            </a:r>
          </a:p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C0392B"/>
                </a:solidFill>
                <a:latin typeface="Aptos Display"/>
              </a:rPr>
              <a:t>FAUX</a:t>
            </a:r>
          </a:p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888888"/>
                </a:solidFill>
                <a:latin typeface="Aptos Display"/>
              </a:rPr>
              <a:t>Ordre des valeurs :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888888"/>
                </a:solidFill>
                <a:latin typeface="Aptos Display"/>
              </a:rPr>
              <a:t>diagonal  height_left  height_right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888888"/>
                </a:solidFill>
                <a:latin typeface="Aptos Display"/>
              </a:rPr>
              <a:t>margin_low  margin_up  length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Résultats — modèle Rég. logistique validé sur 495 billets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0000" y="2008800"/>
            <a:ext cx="2526299" cy="373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2008800"/>
            <a:ext cx="2526299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2531448"/>
            <a:ext cx="2238300" cy="1717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99.4 %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4323384"/>
            <a:ext cx="2238300" cy="1231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Accuracy globale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2300" y="2008800"/>
            <a:ext cx="2526299" cy="373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62300" y="2008800"/>
            <a:ext cx="2526299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6300" y="2531448"/>
            <a:ext cx="2238300" cy="1717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98.8 %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6300" y="4323384"/>
            <a:ext cx="2238300" cy="1231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Recall — faux billets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4600" y="2008800"/>
            <a:ext cx="2526299" cy="373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4600" y="2008800"/>
            <a:ext cx="2526299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8599" y="2531448"/>
            <a:ext cx="2238300" cy="1717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0.9994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8599" y="4323384"/>
            <a:ext cx="2238300" cy="1231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AUC-ROC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6899" y="2008800"/>
            <a:ext cx="2526299" cy="373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46899" y="2008800"/>
            <a:ext cx="2526299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0899" y="2531448"/>
            <a:ext cx="2238300" cy="1717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2 modes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0899" y="4323384"/>
            <a:ext cx="2238300" cy="1231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CSV ou valeurs directes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5886000"/>
            <a:ext cx="107532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88888"/>
                </a:solidFill>
                <a:latin typeface="Aptos Display"/>
              </a:rPr>
              <a:t>Entraîné sur 1 005 billets, validé sur 495 — données ONCFM, juin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